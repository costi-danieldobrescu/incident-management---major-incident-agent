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utura Bold" charset="1" panose="020B0702020204020203"/>
      <p:regular r:id="rId17"/>
    </p:embeddedFont>
    <p:embeddedFont>
      <p:font typeface="Varela Round" charset="1" panose="00000500000000000000"/>
      <p:regular r:id="rId18"/>
    </p:embeddedFont>
    <p:embeddedFont>
      <p:font typeface="Roboto Bol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26088" y="3308862"/>
            <a:ext cx="12147262" cy="319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6"/>
              </a:lnSpc>
            </a:pPr>
            <a:r>
              <a:rPr lang="en-US" sz="12479" b="true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MAJOR INCIDENT AGENT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03327" y="6765582"/>
            <a:ext cx="8481346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Student : Dobrescu Costi-Daniel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8150" y="1030773"/>
            <a:ext cx="11931701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DEFINIREA PROBLEMEI ȘI SCOPUL PROIECTULUI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7017" y="2841625"/>
            <a:ext cx="14833967" cy="615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Incidentele majore generează rapid un număr mare de tichete.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Mai mulți utilizatori pot raporta aceeași problemă sub formulări diferite.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În procesul ITSM tradițional, tichetele sunt analizate inițial individual.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Corelarea incidentelor și identificarea unui Major Incident depind în mare parte de analiza manuală.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Comunicarea către utilizatori și management este, de asemenea, pregătită manual.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9194822"/>
            <a:ext cx="1346156" cy="673078"/>
          </a:xfrm>
          <a:custGeom>
            <a:avLst/>
            <a:gdLst/>
            <a:ahLst/>
            <a:cxnLst/>
            <a:rect r="r" b="b" t="t" l="l"/>
            <a:pathLst>
              <a:path h="673078" w="1346156">
                <a:moveTo>
                  <a:pt x="0" y="673078"/>
                </a:moveTo>
                <a:lnTo>
                  <a:pt x="1346156" y="673078"/>
                </a:lnTo>
                <a:lnTo>
                  <a:pt x="1346156" y="0"/>
                </a:lnTo>
                <a:lnTo>
                  <a:pt x="0" y="0"/>
                </a:lnTo>
                <a:lnTo>
                  <a:pt x="0" y="6730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574912" y="2667000"/>
          <a:ext cx="13138175" cy="6591300"/>
        </p:xfrm>
        <a:graphic>
          <a:graphicData uri="http://schemas.openxmlformats.org/drawingml/2006/table">
            <a:tbl>
              <a:tblPr/>
              <a:tblGrid>
                <a:gridCol w="4379392"/>
                <a:gridCol w="4379392"/>
                <a:gridCol w="4379392"/>
              </a:tblGrid>
              <a:tr h="1025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Ticket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Problemă raportată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Relație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025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INC-10234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Cannot access corporate VPN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Incident real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INC-10235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VPN connection failing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Incident real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54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INC-10236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Remote employees cannot connect to VPN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Incident real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INC-10237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VPN authentication unavailable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34697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Incident real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54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3131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INC-10238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3131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Unable to activate VPN license on new laptop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3131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Cauză diferită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3178150" y="1030773"/>
            <a:ext cx="11931701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EXEMPLU: TICHETE APARENT SIMILARE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8114494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9194822"/>
            <a:ext cx="1346156" cy="673078"/>
          </a:xfrm>
          <a:custGeom>
            <a:avLst/>
            <a:gdLst/>
            <a:ahLst/>
            <a:cxnLst/>
            <a:rect r="r" b="b" t="t" l="l"/>
            <a:pathLst>
              <a:path h="673078" w="1346156">
                <a:moveTo>
                  <a:pt x="0" y="673078"/>
                </a:moveTo>
                <a:lnTo>
                  <a:pt x="1346156" y="673078"/>
                </a:lnTo>
                <a:lnTo>
                  <a:pt x="1346156" y="0"/>
                </a:lnTo>
                <a:lnTo>
                  <a:pt x="0" y="0"/>
                </a:lnTo>
                <a:lnTo>
                  <a:pt x="0" y="6730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8150" y="901943"/>
            <a:ext cx="11931701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PROCESUL TRADIȚIONAL DE INCIDENT MANAGEMENT (AS-IS)</a:t>
            </a:r>
          </a:p>
          <a:p>
            <a:pPr algn="ctr">
              <a:lnSpc>
                <a:spcPts val="4450"/>
              </a:lnSpc>
            </a:pPr>
          </a:p>
        </p:txBody>
      </p:sp>
      <p:sp>
        <p:nvSpPr>
          <p:cNvPr name="AutoShape 10" id="10"/>
          <p:cNvSpPr/>
          <p:nvPr/>
        </p:nvSpPr>
        <p:spPr>
          <a:xfrm>
            <a:off x="5087084" y="3169357"/>
            <a:ext cx="745981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1480077" y="2698993"/>
            <a:ext cx="3607007" cy="902627"/>
            <a:chOff x="0" y="0"/>
            <a:chExt cx="1088952" cy="2725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8952" cy="272502"/>
            </a:xfrm>
            <a:custGeom>
              <a:avLst/>
              <a:gdLst/>
              <a:ahLst/>
              <a:cxnLst/>
              <a:rect r="r" b="b" t="t" l="l"/>
              <a:pathLst>
                <a:path h="272502" w="1088952">
                  <a:moveTo>
                    <a:pt x="23610" y="0"/>
                  </a:moveTo>
                  <a:lnTo>
                    <a:pt x="1065342" y="0"/>
                  </a:lnTo>
                  <a:cubicBezTo>
                    <a:pt x="1078381" y="0"/>
                    <a:pt x="1088952" y="10571"/>
                    <a:pt x="1088952" y="23610"/>
                  </a:cubicBezTo>
                  <a:lnTo>
                    <a:pt x="1088952" y="248892"/>
                  </a:lnTo>
                  <a:cubicBezTo>
                    <a:pt x="1088952" y="261932"/>
                    <a:pt x="1078381" y="272502"/>
                    <a:pt x="1065342" y="272502"/>
                  </a:cubicBezTo>
                  <a:lnTo>
                    <a:pt x="23610" y="272502"/>
                  </a:lnTo>
                  <a:cubicBezTo>
                    <a:pt x="10571" y="272502"/>
                    <a:pt x="0" y="261932"/>
                    <a:pt x="0" y="248892"/>
                  </a:cubicBezTo>
                  <a:lnTo>
                    <a:pt x="0" y="23610"/>
                  </a:lnTo>
                  <a:cubicBezTo>
                    <a:pt x="0" y="10571"/>
                    <a:pt x="10571" y="0"/>
                    <a:pt x="23610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88952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Inc</a:t>
              </a: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id</a:t>
              </a: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</a:t>
              </a: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n</a:t>
              </a: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 raportat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33065" y="2718043"/>
            <a:ext cx="3142430" cy="902627"/>
            <a:chOff x="0" y="0"/>
            <a:chExt cx="948697" cy="2725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8697" cy="272502"/>
            </a:xfrm>
            <a:custGeom>
              <a:avLst/>
              <a:gdLst/>
              <a:ahLst/>
              <a:cxnLst/>
              <a:rect r="r" b="b" t="t" l="l"/>
              <a:pathLst>
                <a:path h="272502" w="948697">
                  <a:moveTo>
                    <a:pt x="27100" y="0"/>
                  </a:moveTo>
                  <a:lnTo>
                    <a:pt x="921596" y="0"/>
                  </a:lnTo>
                  <a:cubicBezTo>
                    <a:pt x="928784" y="0"/>
                    <a:pt x="935677" y="2855"/>
                    <a:pt x="940759" y="7938"/>
                  </a:cubicBezTo>
                  <a:cubicBezTo>
                    <a:pt x="945841" y="13020"/>
                    <a:pt x="948697" y="19913"/>
                    <a:pt x="948697" y="27100"/>
                  </a:cubicBezTo>
                  <a:lnTo>
                    <a:pt x="948697" y="245402"/>
                  </a:lnTo>
                  <a:cubicBezTo>
                    <a:pt x="948697" y="260369"/>
                    <a:pt x="936563" y="272502"/>
                    <a:pt x="921596" y="272502"/>
                  </a:cubicBezTo>
                  <a:lnTo>
                    <a:pt x="27100" y="272502"/>
                  </a:lnTo>
                  <a:cubicBezTo>
                    <a:pt x="19913" y="272502"/>
                    <a:pt x="13020" y="269647"/>
                    <a:pt x="7938" y="264565"/>
                  </a:cubicBezTo>
                  <a:cubicBezTo>
                    <a:pt x="2855" y="259482"/>
                    <a:pt x="0" y="252589"/>
                    <a:pt x="0" y="245402"/>
                  </a:cubicBezTo>
                  <a:lnTo>
                    <a:pt x="0" y="27100"/>
                  </a:lnTo>
                  <a:cubicBezTo>
                    <a:pt x="0" y="19913"/>
                    <a:pt x="2855" y="13020"/>
                    <a:pt x="7938" y="7938"/>
                  </a:cubicBezTo>
                  <a:cubicBezTo>
                    <a:pt x="13020" y="2855"/>
                    <a:pt x="19913" y="0"/>
                    <a:pt x="27100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48697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Creare tichet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975495" y="3169357"/>
            <a:ext cx="745981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9616045" y="4181786"/>
            <a:ext cx="7389987" cy="902627"/>
            <a:chOff x="0" y="0"/>
            <a:chExt cx="2231030" cy="2725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1030" cy="272502"/>
            </a:xfrm>
            <a:custGeom>
              <a:avLst/>
              <a:gdLst/>
              <a:ahLst/>
              <a:cxnLst/>
              <a:rect r="r" b="b" t="t" l="l"/>
              <a:pathLst>
                <a:path h="272502" w="2231030">
                  <a:moveTo>
                    <a:pt x="11524" y="0"/>
                  </a:moveTo>
                  <a:lnTo>
                    <a:pt x="2219506" y="0"/>
                  </a:lnTo>
                  <a:cubicBezTo>
                    <a:pt x="2222562" y="0"/>
                    <a:pt x="2225493" y="1214"/>
                    <a:pt x="2227654" y="3375"/>
                  </a:cubicBezTo>
                  <a:cubicBezTo>
                    <a:pt x="2229815" y="5536"/>
                    <a:pt x="2231030" y="8468"/>
                    <a:pt x="2231030" y="11524"/>
                  </a:cubicBezTo>
                  <a:lnTo>
                    <a:pt x="2231030" y="260978"/>
                  </a:lnTo>
                  <a:cubicBezTo>
                    <a:pt x="2231030" y="267343"/>
                    <a:pt x="2225870" y="272502"/>
                    <a:pt x="2219506" y="272502"/>
                  </a:cubicBezTo>
                  <a:lnTo>
                    <a:pt x="11524" y="272502"/>
                  </a:lnTo>
                  <a:cubicBezTo>
                    <a:pt x="8468" y="272502"/>
                    <a:pt x="5536" y="271288"/>
                    <a:pt x="3375" y="269127"/>
                  </a:cubicBezTo>
                  <a:cubicBezTo>
                    <a:pt x="1214" y="266966"/>
                    <a:pt x="0" y="264035"/>
                    <a:pt x="0" y="260978"/>
                  </a:cubicBezTo>
                  <a:lnTo>
                    <a:pt x="0" y="11524"/>
                  </a:lnTo>
                  <a:cubicBezTo>
                    <a:pt x="0" y="8468"/>
                    <a:pt x="1214" y="5536"/>
                    <a:pt x="3375" y="3375"/>
                  </a:cubicBezTo>
                  <a:cubicBezTo>
                    <a:pt x="5536" y="1214"/>
                    <a:pt x="8468" y="0"/>
                    <a:pt x="11524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231030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Alocare către echipa responsabilă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3327058" y="3620670"/>
            <a:ext cx="0" cy="561116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9737495" y="2718043"/>
            <a:ext cx="5477786" cy="902627"/>
            <a:chOff x="0" y="0"/>
            <a:chExt cx="1653738" cy="2725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53738" cy="272502"/>
            </a:xfrm>
            <a:custGeom>
              <a:avLst/>
              <a:gdLst/>
              <a:ahLst/>
              <a:cxnLst/>
              <a:rect r="r" b="b" t="t" l="l"/>
              <a:pathLst>
                <a:path h="272502" w="1653738">
                  <a:moveTo>
                    <a:pt x="15547" y="0"/>
                  </a:moveTo>
                  <a:lnTo>
                    <a:pt x="1638191" y="0"/>
                  </a:lnTo>
                  <a:cubicBezTo>
                    <a:pt x="1642315" y="0"/>
                    <a:pt x="1646269" y="1638"/>
                    <a:pt x="1649184" y="4554"/>
                  </a:cubicBezTo>
                  <a:cubicBezTo>
                    <a:pt x="1652100" y="7469"/>
                    <a:pt x="1653738" y="11423"/>
                    <a:pt x="1653738" y="15547"/>
                  </a:cubicBezTo>
                  <a:lnTo>
                    <a:pt x="1653738" y="256956"/>
                  </a:lnTo>
                  <a:cubicBezTo>
                    <a:pt x="1653738" y="261079"/>
                    <a:pt x="1652100" y="265033"/>
                    <a:pt x="1649184" y="267949"/>
                  </a:cubicBezTo>
                  <a:cubicBezTo>
                    <a:pt x="1646269" y="270864"/>
                    <a:pt x="1642315" y="272502"/>
                    <a:pt x="1638191" y="272502"/>
                  </a:cubicBezTo>
                  <a:lnTo>
                    <a:pt x="15547" y="272502"/>
                  </a:lnTo>
                  <a:cubicBezTo>
                    <a:pt x="11423" y="272502"/>
                    <a:pt x="7469" y="270864"/>
                    <a:pt x="4554" y="267949"/>
                  </a:cubicBezTo>
                  <a:cubicBezTo>
                    <a:pt x="1638" y="265033"/>
                    <a:pt x="0" y="261079"/>
                    <a:pt x="0" y="256956"/>
                  </a:cubicBezTo>
                  <a:lnTo>
                    <a:pt x="0" y="15547"/>
                  </a:lnTo>
                  <a:cubicBezTo>
                    <a:pt x="0" y="11423"/>
                    <a:pt x="1638" y="7469"/>
                    <a:pt x="4554" y="4554"/>
                  </a:cubicBezTo>
                  <a:cubicBezTo>
                    <a:pt x="7469" y="1638"/>
                    <a:pt x="11423" y="0"/>
                    <a:pt x="15547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653738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Clasificare și prioritizare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47674" y="4162736"/>
            <a:ext cx="6922390" cy="902627"/>
            <a:chOff x="0" y="0"/>
            <a:chExt cx="2089863" cy="2725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9863" cy="272502"/>
            </a:xfrm>
            <a:custGeom>
              <a:avLst/>
              <a:gdLst/>
              <a:ahLst/>
              <a:cxnLst/>
              <a:rect r="r" b="b" t="t" l="l"/>
              <a:pathLst>
                <a:path h="272502" w="2089863">
                  <a:moveTo>
                    <a:pt x="12302" y="0"/>
                  </a:moveTo>
                  <a:lnTo>
                    <a:pt x="2077560" y="0"/>
                  </a:lnTo>
                  <a:cubicBezTo>
                    <a:pt x="2080823" y="0"/>
                    <a:pt x="2083952" y="1296"/>
                    <a:pt x="2086259" y="3603"/>
                  </a:cubicBezTo>
                  <a:cubicBezTo>
                    <a:pt x="2088567" y="5910"/>
                    <a:pt x="2089863" y="9040"/>
                    <a:pt x="2089863" y="12302"/>
                  </a:cubicBezTo>
                  <a:lnTo>
                    <a:pt x="2089863" y="260200"/>
                  </a:lnTo>
                  <a:cubicBezTo>
                    <a:pt x="2089863" y="263463"/>
                    <a:pt x="2088567" y="266592"/>
                    <a:pt x="2086259" y="268899"/>
                  </a:cubicBezTo>
                  <a:cubicBezTo>
                    <a:pt x="2083952" y="271206"/>
                    <a:pt x="2080823" y="272502"/>
                    <a:pt x="2077560" y="272502"/>
                  </a:cubicBezTo>
                  <a:lnTo>
                    <a:pt x="12302" y="272502"/>
                  </a:lnTo>
                  <a:cubicBezTo>
                    <a:pt x="9040" y="272502"/>
                    <a:pt x="5910" y="271206"/>
                    <a:pt x="3603" y="268899"/>
                  </a:cubicBezTo>
                  <a:cubicBezTo>
                    <a:pt x="1296" y="266592"/>
                    <a:pt x="0" y="263463"/>
                    <a:pt x="0" y="260200"/>
                  </a:cubicBezTo>
                  <a:lnTo>
                    <a:pt x="0" y="12302"/>
                  </a:lnTo>
                  <a:cubicBezTo>
                    <a:pt x="0" y="9040"/>
                    <a:pt x="1296" y="5910"/>
                    <a:pt x="3603" y="3603"/>
                  </a:cubicBezTo>
                  <a:cubicBezTo>
                    <a:pt x="5910" y="1296"/>
                    <a:pt x="9040" y="0"/>
                    <a:pt x="12302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2089863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Analiză și investigare manuală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H="true">
            <a:off x="8870064" y="4614050"/>
            <a:ext cx="726949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>
            <a:off x="2464617" y="5103464"/>
            <a:ext cx="0" cy="561116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480077" y="5664580"/>
            <a:ext cx="8116936" cy="902627"/>
            <a:chOff x="0" y="0"/>
            <a:chExt cx="2450495" cy="2725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50495" cy="272502"/>
            </a:xfrm>
            <a:custGeom>
              <a:avLst/>
              <a:gdLst/>
              <a:ahLst/>
              <a:cxnLst/>
              <a:rect r="r" b="b" t="t" l="l"/>
              <a:pathLst>
                <a:path h="272502" w="2450495">
                  <a:moveTo>
                    <a:pt x="10492" y="0"/>
                  </a:moveTo>
                  <a:lnTo>
                    <a:pt x="2440003" y="0"/>
                  </a:lnTo>
                  <a:cubicBezTo>
                    <a:pt x="2445797" y="0"/>
                    <a:pt x="2450495" y="4697"/>
                    <a:pt x="2450495" y="10492"/>
                  </a:cubicBezTo>
                  <a:lnTo>
                    <a:pt x="2450495" y="262010"/>
                  </a:lnTo>
                  <a:cubicBezTo>
                    <a:pt x="2450495" y="267805"/>
                    <a:pt x="2445797" y="272502"/>
                    <a:pt x="2440003" y="272502"/>
                  </a:cubicBezTo>
                  <a:lnTo>
                    <a:pt x="10492" y="272502"/>
                  </a:lnTo>
                  <a:cubicBezTo>
                    <a:pt x="4697" y="272502"/>
                    <a:pt x="0" y="267805"/>
                    <a:pt x="0" y="262010"/>
                  </a:cubicBezTo>
                  <a:lnTo>
                    <a:pt x="0" y="10492"/>
                  </a:lnTo>
                  <a:cubicBezTo>
                    <a:pt x="0" y="4697"/>
                    <a:pt x="4697" y="0"/>
                    <a:pt x="10492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450495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Căutare manuală a incidentelor similare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42994" y="5683630"/>
            <a:ext cx="6916306" cy="902627"/>
            <a:chOff x="0" y="0"/>
            <a:chExt cx="2088026" cy="2725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88026" cy="272502"/>
            </a:xfrm>
            <a:custGeom>
              <a:avLst/>
              <a:gdLst/>
              <a:ahLst/>
              <a:cxnLst/>
              <a:rect r="r" b="b" t="t" l="l"/>
              <a:pathLst>
                <a:path h="272502" w="2088026">
                  <a:moveTo>
                    <a:pt x="12313" y="0"/>
                  </a:moveTo>
                  <a:lnTo>
                    <a:pt x="2075713" y="0"/>
                  </a:lnTo>
                  <a:cubicBezTo>
                    <a:pt x="2082513" y="0"/>
                    <a:pt x="2088026" y="5513"/>
                    <a:pt x="2088026" y="12313"/>
                  </a:cubicBezTo>
                  <a:lnTo>
                    <a:pt x="2088026" y="260189"/>
                  </a:lnTo>
                  <a:cubicBezTo>
                    <a:pt x="2088026" y="263455"/>
                    <a:pt x="2086729" y="266587"/>
                    <a:pt x="2084419" y="268896"/>
                  </a:cubicBezTo>
                  <a:cubicBezTo>
                    <a:pt x="2082110" y="271205"/>
                    <a:pt x="2078978" y="272502"/>
                    <a:pt x="2075713" y="272502"/>
                  </a:cubicBezTo>
                  <a:lnTo>
                    <a:pt x="12313" y="272502"/>
                  </a:lnTo>
                  <a:cubicBezTo>
                    <a:pt x="9047" y="272502"/>
                    <a:pt x="5916" y="271205"/>
                    <a:pt x="3606" y="268896"/>
                  </a:cubicBezTo>
                  <a:cubicBezTo>
                    <a:pt x="1297" y="266587"/>
                    <a:pt x="0" y="263455"/>
                    <a:pt x="0" y="260189"/>
                  </a:cubicBezTo>
                  <a:lnTo>
                    <a:pt x="0" y="12313"/>
                  </a:lnTo>
                  <a:cubicBezTo>
                    <a:pt x="0" y="9047"/>
                    <a:pt x="1297" y="5916"/>
                    <a:pt x="3606" y="3606"/>
                  </a:cubicBezTo>
                  <a:cubicBezTo>
                    <a:pt x="5916" y="1297"/>
                    <a:pt x="9047" y="0"/>
                    <a:pt x="12313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2088026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Identificare posibil Major Incident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9597013" y="6134943"/>
            <a:ext cx="745981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13782097" y="6567207"/>
            <a:ext cx="0" cy="561116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1528246" y="7128323"/>
            <a:ext cx="5197228" cy="902627"/>
            <a:chOff x="0" y="0"/>
            <a:chExt cx="1569038" cy="2725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69038" cy="272502"/>
            </a:xfrm>
            <a:custGeom>
              <a:avLst/>
              <a:gdLst/>
              <a:ahLst/>
              <a:cxnLst/>
              <a:rect r="r" b="b" t="t" l="l"/>
              <a:pathLst>
                <a:path h="272502" w="1569038">
                  <a:moveTo>
                    <a:pt x="16386" y="0"/>
                  </a:moveTo>
                  <a:lnTo>
                    <a:pt x="1552652" y="0"/>
                  </a:lnTo>
                  <a:cubicBezTo>
                    <a:pt x="1556998" y="0"/>
                    <a:pt x="1561166" y="1726"/>
                    <a:pt x="1564239" y="4799"/>
                  </a:cubicBezTo>
                  <a:cubicBezTo>
                    <a:pt x="1567312" y="7872"/>
                    <a:pt x="1569038" y="12040"/>
                    <a:pt x="1569038" y="16386"/>
                  </a:cubicBezTo>
                  <a:lnTo>
                    <a:pt x="1569038" y="256116"/>
                  </a:lnTo>
                  <a:cubicBezTo>
                    <a:pt x="1569038" y="260462"/>
                    <a:pt x="1567312" y="264630"/>
                    <a:pt x="1564239" y="267703"/>
                  </a:cubicBezTo>
                  <a:cubicBezTo>
                    <a:pt x="1561166" y="270776"/>
                    <a:pt x="1556998" y="272502"/>
                    <a:pt x="1552652" y="272502"/>
                  </a:cubicBezTo>
                  <a:lnTo>
                    <a:pt x="16386" y="272502"/>
                  </a:lnTo>
                  <a:cubicBezTo>
                    <a:pt x="12040" y="272502"/>
                    <a:pt x="7872" y="270776"/>
                    <a:pt x="4799" y="267703"/>
                  </a:cubicBezTo>
                  <a:cubicBezTo>
                    <a:pt x="1726" y="264630"/>
                    <a:pt x="0" y="260462"/>
                    <a:pt x="0" y="256116"/>
                  </a:cubicBezTo>
                  <a:lnTo>
                    <a:pt x="0" y="16386"/>
                  </a:lnTo>
                  <a:cubicBezTo>
                    <a:pt x="0" y="12040"/>
                    <a:pt x="1726" y="7872"/>
                    <a:pt x="4799" y="4799"/>
                  </a:cubicBezTo>
                  <a:cubicBezTo>
                    <a:pt x="7872" y="1726"/>
                    <a:pt x="12040" y="0"/>
                    <a:pt x="16386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569038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Escaladare / Confirmare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flipH="true">
            <a:off x="10801298" y="7598687"/>
            <a:ext cx="726949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5604070" y="7128323"/>
            <a:ext cx="5197228" cy="902627"/>
            <a:chOff x="0" y="0"/>
            <a:chExt cx="1569038" cy="2725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69038" cy="272502"/>
            </a:xfrm>
            <a:custGeom>
              <a:avLst/>
              <a:gdLst/>
              <a:ahLst/>
              <a:cxnLst/>
              <a:rect r="r" b="b" t="t" l="l"/>
              <a:pathLst>
                <a:path h="272502" w="1569038">
                  <a:moveTo>
                    <a:pt x="16386" y="0"/>
                  </a:moveTo>
                  <a:lnTo>
                    <a:pt x="1552652" y="0"/>
                  </a:lnTo>
                  <a:cubicBezTo>
                    <a:pt x="1556998" y="0"/>
                    <a:pt x="1561166" y="1726"/>
                    <a:pt x="1564239" y="4799"/>
                  </a:cubicBezTo>
                  <a:cubicBezTo>
                    <a:pt x="1567312" y="7872"/>
                    <a:pt x="1569038" y="12040"/>
                    <a:pt x="1569038" y="16386"/>
                  </a:cubicBezTo>
                  <a:lnTo>
                    <a:pt x="1569038" y="256116"/>
                  </a:lnTo>
                  <a:cubicBezTo>
                    <a:pt x="1569038" y="260462"/>
                    <a:pt x="1567312" y="264630"/>
                    <a:pt x="1564239" y="267703"/>
                  </a:cubicBezTo>
                  <a:cubicBezTo>
                    <a:pt x="1561166" y="270776"/>
                    <a:pt x="1556998" y="272502"/>
                    <a:pt x="1552652" y="272502"/>
                  </a:cubicBezTo>
                  <a:lnTo>
                    <a:pt x="16386" y="272502"/>
                  </a:lnTo>
                  <a:cubicBezTo>
                    <a:pt x="12040" y="272502"/>
                    <a:pt x="7872" y="270776"/>
                    <a:pt x="4799" y="267703"/>
                  </a:cubicBezTo>
                  <a:cubicBezTo>
                    <a:pt x="1726" y="264630"/>
                    <a:pt x="0" y="260462"/>
                    <a:pt x="0" y="256116"/>
                  </a:cubicBezTo>
                  <a:lnTo>
                    <a:pt x="0" y="16386"/>
                  </a:lnTo>
                  <a:cubicBezTo>
                    <a:pt x="0" y="12040"/>
                    <a:pt x="1726" y="7872"/>
                    <a:pt x="4799" y="4799"/>
                  </a:cubicBezTo>
                  <a:cubicBezTo>
                    <a:pt x="7872" y="1726"/>
                    <a:pt x="12040" y="0"/>
                    <a:pt x="16386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569038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Declarare Major Incident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73827" y="7128323"/>
            <a:ext cx="3106343" cy="902627"/>
            <a:chOff x="0" y="0"/>
            <a:chExt cx="937802" cy="27250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37802" cy="272502"/>
            </a:xfrm>
            <a:custGeom>
              <a:avLst/>
              <a:gdLst/>
              <a:ahLst/>
              <a:cxnLst/>
              <a:rect r="r" b="b" t="t" l="l"/>
              <a:pathLst>
                <a:path h="272502" w="937802">
                  <a:moveTo>
                    <a:pt x="27415" y="0"/>
                  </a:moveTo>
                  <a:lnTo>
                    <a:pt x="910387" y="0"/>
                  </a:lnTo>
                  <a:cubicBezTo>
                    <a:pt x="917658" y="0"/>
                    <a:pt x="924631" y="2888"/>
                    <a:pt x="929772" y="8030"/>
                  </a:cubicBezTo>
                  <a:cubicBezTo>
                    <a:pt x="934913" y="13171"/>
                    <a:pt x="937802" y="20144"/>
                    <a:pt x="937802" y="27415"/>
                  </a:cubicBezTo>
                  <a:lnTo>
                    <a:pt x="937802" y="245087"/>
                  </a:lnTo>
                  <a:cubicBezTo>
                    <a:pt x="937802" y="260228"/>
                    <a:pt x="925528" y="272502"/>
                    <a:pt x="910387" y="272502"/>
                  </a:cubicBezTo>
                  <a:lnTo>
                    <a:pt x="27415" y="272502"/>
                  </a:lnTo>
                  <a:cubicBezTo>
                    <a:pt x="20144" y="272502"/>
                    <a:pt x="13171" y="269614"/>
                    <a:pt x="8030" y="264473"/>
                  </a:cubicBezTo>
                  <a:cubicBezTo>
                    <a:pt x="2888" y="259331"/>
                    <a:pt x="0" y="252358"/>
                    <a:pt x="0" y="245087"/>
                  </a:cubicBezTo>
                  <a:lnTo>
                    <a:pt x="0" y="27415"/>
                  </a:lnTo>
                  <a:cubicBezTo>
                    <a:pt x="0" y="12274"/>
                    <a:pt x="12274" y="0"/>
                    <a:pt x="27415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937802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Comunicare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flipH="true">
            <a:off x="4877121" y="7617737"/>
            <a:ext cx="726949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9" id="49"/>
          <p:cNvGrpSpPr/>
          <p:nvPr/>
        </p:nvGrpSpPr>
        <p:grpSpPr>
          <a:xfrm rot="0">
            <a:off x="2903871" y="8706093"/>
            <a:ext cx="3550560" cy="902627"/>
            <a:chOff x="0" y="0"/>
            <a:chExt cx="1071910" cy="2725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1910" cy="272502"/>
            </a:xfrm>
            <a:custGeom>
              <a:avLst/>
              <a:gdLst/>
              <a:ahLst/>
              <a:cxnLst/>
              <a:rect r="r" b="b" t="t" l="l"/>
              <a:pathLst>
                <a:path h="272502" w="1071910">
                  <a:moveTo>
                    <a:pt x="23985" y="0"/>
                  </a:moveTo>
                  <a:lnTo>
                    <a:pt x="1047925" y="0"/>
                  </a:lnTo>
                  <a:cubicBezTo>
                    <a:pt x="1054286" y="0"/>
                    <a:pt x="1060387" y="2527"/>
                    <a:pt x="1064885" y="7025"/>
                  </a:cubicBezTo>
                  <a:cubicBezTo>
                    <a:pt x="1069383" y="11523"/>
                    <a:pt x="1071910" y="17624"/>
                    <a:pt x="1071910" y="23985"/>
                  </a:cubicBezTo>
                  <a:lnTo>
                    <a:pt x="1071910" y="248517"/>
                  </a:lnTo>
                  <a:cubicBezTo>
                    <a:pt x="1071910" y="261764"/>
                    <a:pt x="1061172" y="272502"/>
                    <a:pt x="1047925" y="272502"/>
                  </a:cubicBezTo>
                  <a:lnTo>
                    <a:pt x="23985" y="272502"/>
                  </a:lnTo>
                  <a:cubicBezTo>
                    <a:pt x="17624" y="272502"/>
                    <a:pt x="11523" y="269975"/>
                    <a:pt x="7025" y="265477"/>
                  </a:cubicBezTo>
                  <a:cubicBezTo>
                    <a:pt x="2527" y="260979"/>
                    <a:pt x="0" y="254878"/>
                    <a:pt x="0" y="248517"/>
                  </a:cubicBezTo>
                  <a:lnTo>
                    <a:pt x="0" y="23985"/>
                  </a:lnTo>
                  <a:cubicBezTo>
                    <a:pt x="0" y="10739"/>
                    <a:pt x="10739" y="0"/>
                    <a:pt x="23985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071910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Rezolvare Ticket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>
            <a:off x="3346048" y="8087827"/>
            <a:ext cx="0" cy="561116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3" id="53"/>
          <p:cNvGrpSpPr/>
          <p:nvPr/>
        </p:nvGrpSpPr>
        <p:grpSpPr>
          <a:xfrm rot="0">
            <a:off x="7250738" y="8706093"/>
            <a:ext cx="3550560" cy="902627"/>
            <a:chOff x="0" y="0"/>
            <a:chExt cx="1071910" cy="27250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1910" cy="272502"/>
            </a:xfrm>
            <a:custGeom>
              <a:avLst/>
              <a:gdLst/>
              <a:ahLst/>
              <a:cxnLst/>
              <a:rect r="r" b="b" t="t" l="l"/>
              <a:pathLst>
                <a:path h="272502" w="1071910">
                  <a:moveTo>
                    <a:pt x="23985" y="0"/>
                  </a:moveTo>
                  <a:lnTo>
                    <a:pt x="1047925" y="0"/>
                  </a:lnTo>
                  <a:cubicBezTo>
                    <a:pt x="1054286" y="0"/>
                    <a:pt x="1060387" y="2527"/>
                    <a:pt x="1064885" y="7025"/>
                  </a:cubicBezTo>
                  <a:cubicBezTo>
                    <a:pt x="1069383" y="11523"/>
                    <a:pt x="1071910" y="17624"/>
                    <a:pt x="1071910" y="23985"/>
                  </a:cubicBezTo>
                  <a:lnTo>
                    <a:pt x="1071910" y="248517"/>
                  </a:lnTo>
                  <a:cubicBezTo>
                    <a:pt x="1071910" y="261764"/>
                    <a:pt x="1061172" y="272502"/>
                    <a:pt x="1047925" y="272502"/>
                  </a:cubicBezTo>
                  <a:lnTo>
                    <a:pt x="23985" y="272502"/>
                  </a:lnTo>
                  <a:cubicBezTo>
                    <a:pt x="17624" y="272502"/>
                    <a:pt x="11523" y="269975"/>
                    <a:pt x="7025" y="265477"/>
                  </a:cubicBezTo>
                  <a:cubicBezTo>
                    <a:pt x="2527" y="260979"/>
                    <a:pt x="0" y="254878"/>
                    <a:pt x="0" y="248517"/>
                  </a:cubicBezTo>
                  <a:lnTo>
                    <a:pt x="0" y="23985"/>
                  </a:lnTo>
                  <a:cubicBezTo>
                    <a:pt x="0" y="10739"/>
                    <a:pt x="10739" y="0"/>
                    <a:pt x="23985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071910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Închidere Ticket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>
            <a:off x="6454431" y="9194822"/>
            <a:ext cx="745981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9194822"/>
            <a:ext cx="1346156" cy="673078"/>
          </a:xfrm>
          <a:custGeom>
            <a:avLst/>
            <a:gdLst/>
            <a:ahLst/>
            <a:cxnLst/>
            <a:rect r="r" b="b" t="t" l="l"/>
            <a:pathLst>
              <a:path h="673078" w="1346156">
                <a:moveTo>
                  <a:pt x="0" y="673078"/>
                </a:moveTo>
                <a:lnTo>
                  <a:pt x="1346156" y="673078"/>
                </a:lnTo>
                <a:lnTo>
                  <a:pt x="1346156" y="0"/>
                </a:lnTo>
                <a:lnTo>
                  <a:pt x="0" y="0"/>
                </a:lnTo>
                <a:lnTo>
                  <a:pt x="0" y="6730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8150" y="1030773"/>
            <a:ext cx="11931701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IMPACTUL PROCESULUI ACTUAL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7017" y="2841625"/>
            <a:ext cx="14833967" cy="677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Identificare întârziată - corelarea manuală poate întârzia detectare</a:t>
            </a: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 unui Major Incident.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Efort operațional ridicat - operatorii trebuie să analizeze și să compare un număr mare de tichete.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</a:t>
            </a: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ecizii inconsistente - prioritizarea și escaladarea pot depinde de experiența și disponibilitatea operatorilor.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Comunicare întârziată - mesajele către utilizatori și management sunt pregătite manual.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Impact business - timp mai mare de rezolvare și scăderea vizibilității și încrederii în serviciile IT.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749939" y="1395898"/>
            <a:ext cx="878812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 ce reprezintă o problemă?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9194822"/>
            <a:ext cx="1346156" cy="673078"/>
          </a:xfrm>
          <a:custGeom>
            <a:avLst/>
            <a:gdLst/>
            <a:ahLst/>
            <a:cxnLst/>
            <a:rect r="r" b="b" t="t" l="l"/>
            <a:pathLst>
              <a:path h="673078" w="1346156">
                <a:moveTo>
                  <a:pt x="0" y="673078"/>
                </a:moveTo>
                <a:lnTo>
                  <a:pt x="1346156" y="673078"/>
                </a:lnTo>
                <a:lnTo>
                  <a:pt x="1346156" y="0"/>
                </a:lnTo>
                <a:lnTo>
                  <a:pt x="0" y="0"/>
                </a:lnTo>
                <a:lnTo>
                  <a:pt x="0" y="6730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8150" y="1030773"/>
            <a:ext cx="11931701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OBIECTIVUL PROIECTULUI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7017" y="2108200"/>
            <a:ext cx="14833967" cy="739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Major Incident Agent (MIA) = Un agent AI care asistă procesul de identificare și gestionare a incidentelor majore prin: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Detectare automată - Similaritate semantică + clustering al tichetelor.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Evaluare inteligentă - LLM + RAG pentru confirmarea unui posibil Major Incident.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Comunicare automată - Draft-uri separate pentru utilizatori și management.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Human-in-the-loop - Decizia finală rămâne la Incident Manager.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Audit &amp; observabilitate - Întregul lanț de decizie este urmărit și logat.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8032702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78150" y="876826"/>
            <a:ext cx="11931701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SOLUȚIA PROPUSĂ (TO-BE)</a:t>
            </a:r>
          </a:p>
        </p:txBody>
      </p:sp>
      <p:sp>
        <p:nvSpPr>
          <p:cNvPr name="AutoShape 9" id="9"/>
          <p:cNvSpPr/>
          <p:nvPr/>
        </p:nvSpPr>
        <p:spPr>
          <a:xfrm>
            <a:off x="6309633" y="2762471"/>
            <a:ext cx="745981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2962365" y="2292107"/>
            <a:ext cx="3347269" cy="902627"/>
            <a:chOff x="0" y="0"/>
            <a:chExt cx="1010537" cy="272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0537" cy="272502"/>
            </a:xfrm>
            <a:custGeom>
              <a:avLst/>
              <a:gdLst/>
              <a:ahLst/>
              <a:cxnLst/>
              <a:rect r="r" b="b" t="t" l="l"/>
              <a:pathLst>
                <a:path h="272502" w="1010537">
                  <a:moveTo>
                    <a:pt x="25442" y="0"/>
                  </a:moveTo>
                  <a:lnTo>
                    <a:pt x="985095" y="0"/>
                  </a:lnTo>
                  <a:cubicBezTo>
                    <a:pt x="991843" y="0"/>
                    <a:pt x="998314" y="2680"/>
                    <a:pt x="1003085" y="7452"/>
                  </a:cubicBezTo>
                  <a:cubicBezTo>
                    <a:pt x="1007857" y="12223"/>
                    <a:pt x="1010537" y="18694"/>
                    <a:pt x="1010537" y="25442"/>
                  </a:cubicBezTo>
                  <a:lnTo>
                    <a:pt x="1010537" y="247060"/>
                  </a:lnTo>
                  <a:cubicBezTo>
                    <a:pt x="1010537" y="261112"/>
                    <a:pt x="999146" y="272502"/>
                    <a:pt x="985095" y="272502"/>
                  </a:cubicBezTo>
                  <a:lnTo>
                    <a:pt x="25442" y="272502"/>
                  </a:lnTo>
                  <a:cubicBezTo>
                    <a:pt x="18694" y="272502"/>
                    <a:pt x="12223" y="269822"/>
                    <a:pt x="7452" y="265050"/>
                  </a:cubicBezTo>
                  <a:cubicBezTo>
                    <a:pt x="2680" y="260279"/>
                    <a:pt x="0" y="253808"/>
                    <a:pt x="0" y="247060"/>
                  </a:cubicBezTo>
                  <a:lnTo>
                    <a:pt x="0" y="25442"/>
                  </a:lnTo>
                  <a:cubicBezTo>
                    <a:pt x="0" y="11391"/>
                    <a:pt x="11391" y="0"/>
                    <a:pt x="25442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010537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Tichet nou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55614" y="2301852"/>
            <a:ext cx="8293795" cy="902627"/>
            <a:chOff x="0" y="0"/>
            <a:chExt cx="2503888" cy="2725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03888" cy="272502"/>
            </a:xfrm>
            <a:custGeom>
              <a:avLst/>
              <a:gdLst/>
              <a:ahLst/>
              <a:cxnLst/>
              <a:rect r="r" b="b" t="t" l="l"/>
              <a:pathLst>
                <a:path h="272502" w="2503888">
                  <a:moveTo>
                    <a:pt x="10268" y="0"/>
                  </a:moveTo>
                  <a:lnTo>
                    <a:pt x="2493620" y="0"/>
                  </a:lnTo>
                  <a:cubicBezTo>
                    <a:pt x="2499291" y="0"/>
                    <a:pt x="2503888" y="4597"/>
                    <a:pt x="2503888" y="10268"/>
                  </a:cubicBezTo>
                  <a:lnTo>
                    <a:pt x="2503888" y="262234"/>
                  </a:lnTo>
                  <a:cubicBezTo>
                    <a:pt x="2503888" y="267905"/>
                    <a:pt x="2499291" y="272502"/>
                    <a:pt x="2493620" y="272502"/>
                  </a:cubicBezTo>
                  <a:lnTo>
                    <a:pt x="10268" y="272502"/>
                  </a:lnTo>
                  <a:cubicBezTo>
                    <a:pt x="7545" y="272502"/>
                    <a:pt x="4933" y="271420"/>
                    <a:pt x="3007" y="269495"/>
                  </a:cubicBezTo>
                  <a:cubicBezTo>
                    <a:pt x="1082" y="267569"/>
                    <a:pt x="0" y="264957"/>
                    <a:pt x="0" y="262234"/>
                  </a:cubicBezTo>
                  <a:lnTo>
                    <a:pt x="0" y="10268"/>
                  </a:lnTo>
                  <a:cubicBezTo>
                    <a:pt x="0" y="4597"/>
                    <a:pt x="4597" y="0"/>
                    <a:pt x="10268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503888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Analiză și corelare cu incidente recente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017726" y="3774901"/>
            <a:ext cx="8918166" cy="902627"/>
            <a:chOff x="0" y="0"/>
            <a:chExt cx="2692385" cy="2725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92385" cy="272502"/>
            </a:xfrm>
            <a:custGeom>
              <a:avLst/>
              <a:gdLst/>
              <a:ahLst/>
              <a:cxnLst/>
              <a:rect r="r" b="b" t="t" l="l"/>
              <a:pathLst>
                <a:path h="272502" w="2692385">
                  <a:moveTo>
                    <a:pt x="9549" y="0"/>
                  </a:moveTo>
                  <a:lnTo>
                    <a:pt x="2682836" y="0"/>
                  </a:lnTo>
                  <a:cubicBezTo>
                    <a:pt x="2688110" y="0"/>
                    <a:pt x="2692385" y="4275"/>
                    <a:pt x="2692385" y="9549"/>
                  </a:cubicBezTo>
                  <a:lnTo>
                    <a:pt x="2692385" y="262953"/>
                  </a:lnTo>
                  <a:cubicBezTo>
                    <a:pt x="2692385" y="268227"/>
                    <a:pt x="2688110" y="272502"/>
                    <a:pt x="2682836" y="272502"/>
                  </a:cubicBezTo>
                  <a:lnTo>
                    <a:pt x="9549" y="272502"/>
                  </a:lnTo>
                  <a:cubicBezTo>
                    <a:pt x="4275" y="272502"/>
                    <a:pt x="0" y="268227"/>
                    <a:pt x="0" y="262953"/>
                  </a:cubicBezTo>
                  <a:lnTo>
                    <a:pt x="0" y="9549"/>
                  </a:lnTo>
                  <a:cubicBezTo>
                    <a:pt x="0" y="4275"/>
                    <a:pt x="4275" y="0"/>
                    <a:pt x="9549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692385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Identificarea unui grup de incidente similare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327058" y="3213785"/>
            <a:ext cx="0" cy="561116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906124" y="3736801"/>
            <a:ext cx="6384654" cy="902627"/>
            <a:chOff x="0" y="0"/>
            <a:chExt cx="1927521" cy="2725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7521" cy="272502"/>
            </a:xfrm>
            <a:custGeom>
              <a:avLst/>
              <a:gdLst/>
              <a:ahLst/>
              <a:cxnLst/>
              <a:rect r="r" b="b" t="t" l="l"/>
              <a:pathLst>
                <a:path h="272502" w="1927521">
                  <a:moveTo>
                    <a:pt x="13338" y="0"/>
                  </a:moveTo>
                  <a:lnTo>
                    <a:pt x="1914182" y="0"/>
                  </a:lnTo>
                  <a:cubicBezTo>
                    <a:pt x="1921549" y="0"/>
                    <a:pt x="1927521" y="5972"/>
                    <a:pt x="1927521" y="13338"/>
                  </a:cubicBezTo>
                  <a:lnTo>
                    <a:pt x="1927521" y="259164"/>
                  </a:lnTo>
                  <a:cubicBezTo>
                    <a:pt x="1927521" y="266530"/>
                    <a:pt x="1921549" y="272502"/>
                    <a:pt x="1914182" y="272502"/>
                  </a:cubicBezTo>
                  <a:lnTo>
                    <a:pt x="13338" y="272502"/>
                  </a:lnTo>
                  <a:cubicBezTo>
                    <a:pt x="5972" y="272502"/>
                    <a:pt x="0" y="266530"/>
                    <a:pt x="0" y="259164"/>
                  </a:cubicBezTo>
                  <a:lnTo>
                    <a:pt x="0" y="13338"/>
                  </a:lnTo>
                  <a:cubicBezTo>
                    <a:pt x="0" y="5972"/>
                    <a:pt x="5972" y="0"/>
                    <a:pt x="13338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927521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Evaluare posibil Incident Major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7290778" y="4226214"/>
            <a:ext cx="726949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2445567" y="4709773"/>
            <a:ext cx="0" cy="561116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1480077" y="5257694"/>
            <a:ext cx="5334735" cy="902627"/>
            <a:chOff x="0" y="0"/>
            <a:chExt cx="1610551" cy="2725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10551" cy="272502"/>
            </a:xfrm>
            <a:custGeom>
              <a:avLst/>
              <a:gdLst/>
              <a:ahLst/>
              <a:cxnLst/>
              <a:rect r="r" b="b" t="t" l="l"/>
              <a:pathLst>
                <a:path h="272502" w="1610551">
                  <a:moveTo>
                    <a:pt x="15964" y="0"/>
                  </a:moveTo>
                  <a:lnTo>
                    <a:pt x="1594588" y="0"/>
                  </a:lnTo>
                  <a:cubicBezTo>
                    <a:pt x="1598821" y="0"/>
                    <a:pt x="1602882" y="1682"/>
                    <a:pt x="1605876" y="4676"/>
                  </a:cubicBezTo>
                  <a:cubicBezTo>
                    <a:pt x="1608869" y="7669"/>
                    <a:pt x="1610551" y="11730"/>
                    <a:pt x="1610551" y="15964"/>
                  </a:cubicBezTo>
                  <a:lnTo>
                    <a:pt x="1610551" y="256539"/>
                  </a:lnTo>
                  <a:cubicBezTo>
                    <a:pt x="1610551" y="265355"/>
                    <a:pt x="1603404" y="272502"/>
                    <a:pt x="1594588" y="272502"/>
                  </a:cubicBezTo>
                  <a:lnTo>
                    <a:pt x="15964" y="272502"/>
                  </a:lnTo>
                  <a:cubicBezTo>
                    <a:pt x="11730" y="272502"/>
                    <a:pt x="7669" y="270820"/>
                    <a:pt x="4676" y="267827"/>
                  </a:cubicBezTo>
                  <a:cubicBezTo>
                    <a:pt x="1682" y="264833"/>
                    <a:pt x="0" y="260773"/>
                    <a:pt x="0" y="256539"/>
                  </a:cubicBezTo>
                  <a:lnTo>
                    <a:pt x="0" y="15964"/>
                  </a:lnTo>
                  <a:cubicBezTo>
                    <a:pt x="0" y="11730"/>
                    <a:pt x="1682" y="7669"/>
                    <a:pt x="4676" y="4676"/>
                  </a:cubicBezTo>
                  <a:cubicBezTo>
                    <a:pt x="7669" y="1682"/>
                    <a:pt x="11730" y="0"/>
                    <a:pt x="15964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610551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Propunere Incident Major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560794" y="5257694"/>
            <a:ext cx="8038538" cy="902627"/>
            <a:chOff x="0" y="0"/>
            <a:chExt cx="2426827" cy="2725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26826" cy="272502"/>
            </a:xfrm>
            <a:custGeom>
              <a:avLst/>
              <a:gdLst/>
              <a:ahLst/>
              <a:cxnLst/>
              <a:rect r="r" b="b" t="t" l="l"/>
              <a:pathLst>
                <a:path h="272502" w="2426826">
                  <a:moveTo>
                    <a:pt x="10594" y="0"/>
                  </a:moveTo>
                  <a:lnTo>
                    <a:pt x="2416232" y="0"/>
                  </a:lnTo>
                  <a:cubicBezTo>
                    <a:pt x="2422083" y="0"/>
                    <a:pt x="2426826" y="4743"/>
                    <a:pt x="2426826" y="10594"/>
                  </a:cubicBezTo>
                  <a:lnTo>
                    <a:pt x="2426826" y="261908"/>
                  </a:lnTo>
                  <a:cubicBezTo>
                    <a:pt x="2426826" y="267759"/>
                    <a:pt x="2422083" y="272502"/>
                    <a:pt x="2416232" y="272502"/>
                  </a:cubicBezTo>
                  <a:lnTo>
                    <a:pt x="10594" y="272502"/>
                  </a:lnTo>
                  <a:cubicBezTo>
                    <a:pt x="4743" y="272502"/>
                    <a:pt x="0" y="267759"/>
                    <a:pt x="0" y="261908"/>
                  </a:cubicBezTo>
                  <a:lnTo>
                    <a:pt x="0" y="10594"/>
                  </a:lnTo>
                  <a:cubicBezTo>
                    <a:pt x="0" y="4743"/>
                    <a:pt x="4743" y="0"/>
                    <a:pt x="10594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2426827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Validare și aprobare Incident Manager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6814813" y="5709008"/>
            <a:ext cx="745981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3782097" y="6160321"/>
            <a:ext cx="0" cy="561116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3" id="33"/>
          <p:cNvGrpSpPr/>
          <p:nvPr/>
        </p:nvGrpSpPr>
        <p:grpSpPr>
          <a:xfrm rot="0">
            <a:off x="12350525" y="6721437"/>
            <a:ext cx="5197228" cy="902627"/>
            <a:chOff x="0" y="0"/>
            <a:chExt cx="1569038" cy="2725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69038" cy="272502"/>
            </a:xfrm>
            <a:custGeom>
              <a:avLst/>
              <a:gdLst/>
              <a:ahLst/>
              <a:cxnLst/>
              <a:rect r="r" b="b" t="t" l="l"/>
              <a:pathLst>
                <a:path h="272502" w="1569038">
                  <a:moveTo>
                    <a:pt x="16386" y="0"/>
                  </a:moveTo>
                  <a:lnTo>
                    <a:pt x="1552652" y="0"/>
                  </a:lnTo>
                  <a:cubicBezTo>
                    <a:pt x="1556998" y="0"/>
                    <a:pt x="1561166" y="1726"/>
                    <a:pt x="1564239" y="4799"/>
                  </a:cubicBezTo>
                  <a:cubicBezTo>
                    <a:pt x="1567312" y="7872"/>
                    <a:pt x="1569038" y="12040"/>
                    <a:pt x="1569038" y="16386"/>
                  </a:cubicBezTo>
                  <a:lnTo>
                    <a:pt x="1569038" y="256116"/>
                  </a:lnTo>
                  <a:cubicBezTo>
                    <a:pt x="1569038" y="260462"/>
                    <a:pt x="1567312" y="264630"/>
                    <a:pt x="1564239" y="267703"/>
                  </a:cubicBezTo>
                  <a:cubicBezTo>
                    <a:pt x="1561166" y="270776"/>
                    <a:pt x="1556998" y="272502"/>
                    <a:pt x="1552652" y="272502"/>
                  </a:cubicBezTo>
                  <a:lnTo>
                    <a:pt x="16386" y="272502"/>
                  </a:lnTo>
                  <a:cubicBezTo>
                    <a:pt x="12040" y="272502"/>
                    <a:pt x="7872" y="270776"/>
                    <a:pt x="4799" y="267703"/>
                  </a:cubicBezTo>
                  <a:cubicBezTo>
                    <a:pt x="1726" y="264630"/>
                    <a:pt x="0" y="260462"/>
                    <a:pt x="0" y="256116"/>
                  </a:cubicBezTo>
                  <a:lnTo>
                    <a:pt x="0" y="16386"/>
                  </a:lnTo>
                  <a:cubicBezTo>
                    <a:pt x="0" y="12040"/>
                    <a:pt x="1726" y="7872"/>
                    <a:pt x="4799" y="4799"/>
                  </a:cubicBezTo>
                  <a:cubicBezTo>
                    <a:pt x="7872" y="1726"/>
                    <a:pt x="12040" y="0"/>
                    <a:pt x="16386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569038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Declarare Incident Major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flipH="true">
            <a:off x="11623577" y="7191801"/>
            <a:ext cx="726949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7037470" y="6721437"/>
            <a:ext cx="4542593" cy="902627"/>
            <a:chOff x="0" y="0"/>
            <a:chExt cx="1371404" cy="27250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404" cy="272502"/>
            </a:xfrm>
            <a:custGeom>
              <a:avLst/>
              <a:gdLst/>
              <a:ahLst/>
              <a:cxnLst/>
              <a:rect r="r" b="b" t="t" l="l"/>
              <a:pathLst>
                <a:path h="272502" w="1371404">
                  <a:moveTo>
                    <a:pt x="18747" y="0"/>
                  </a:moveTo>
                  <a:lnTo>
                    <a:pt x="1352657" y="0"/>
                  </a:lnTo>
                  <a:cubicBezTo>
                    <a:pt x="1363011" y="0"/>
                    <a:pt x="1371404" y="8393"/>
                    <a:pt x="1371404" y="18747"/>
                  </a:cubicBezTo>
                  <a:lnTo>
                    <a:pt x="1371404" y="253755"/>
                  </a:lnTo>
                  <a:cubicBezTo>
                    <a:pt x="1371404" y="264109"/>
                    <a:pt x="1363011" y="272502"/>
                    <a:pt x="1352657" y="272502"/>
                  </a:cubicBezTo>
                  <a:lnTo>
                    <a:pt x="18747" y="272502"/>
                  </a:lnTo>
                  <a:cubicBezTo>
                    <a:pt x="13775" y="272502"/>
                    <a:pt x="9007" y="270527"/>
                    <a:pt x="5491" y="267011"/>
                  </a:cubicBezTo>
                  <a:cubicBezTo>
                    <a:pt x="1975" y="263496"/>
                    <a:pt x="0" y="258727"/>
                    <a:pt x="0" y="253755"/>
                  </a:cubicBezTo>
                  <a:lnTo>
                    <a:pt x="0" y="18747"/>
                  </a:lnTo>
                  <a:cubicBezTo>
                    <a:pt x="0" y="8393"/>
                    <a:pt x="8393" y="0"/>
                    <a:pt x="18747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371404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Pregătire comunicare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84718" y="6721164"/>
            <a:ext cx="4828852" cy="902627"/>
            <a:chOff x="0" y="0"/>
            <a:chExt cx="1457825" cy="27250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57825" cy="272502"/>
            </a:xfrm>
            <a:custGeom>
              <a:avLst/>
              <a:gdLst/>
              <a:ahLst/>
              <a:cxnLst/>
              <a:rect r="r" b="b" t="t" l="l"/>
              <a:pathLst>
                <a:path h="272502" w="1457825">
                  <a:moveTo>
                    <a:pt x="17636" y="0"/>
                  </a:moveTo>
                  <a:lnTo>
                    <a:pt x="1440190" y="0"/>
                  </a:lnTo>
                  <a:cubicBezTo>
                    <a:pt x="1444867" y="0"/>
                    <a:pt x="1449353" y="1858"/>
                    <a:pt x="1452660" y="5165"/>
                  </a:cubicBezTo>
                  <a:cubicBezTo>
                    <a:pt x="1455967" y="8473"/>
                    <a:pt x="1457825" y="12959"/>
                    <a:pt x="1457825" y="17636"/>
                  </a:cubicBezTo>
                  <a:lnTo>
                    <a:pt x="1457825" y="254866"/>
                  </a:lnTo>
                  <a:cubicBezTo>
                    <a:pt x="1457825" y="259544"/>
                    <a:pt x="1455967" y="264029"/>
                    <a:pt x="1452660" y="267337"/>
                  </a:cubicBezTo>
                  <a:cubicBezTo>
                    <a:pt x="1449353" y="270644"/>
                    <a:pt x="1444867" y="272502"/>
                    <a:pt x="1440190" y="272502"/>
                  </a:cubicBezTo>
                  <a:lnTo>
                    <a:pt x="17636" y="272502"/>
                  </a:lnTo>
                  <a:cubicBezTo>
                    <a:pt x="12959" y="272502"/>
                    <a:pt x="8473" y="270644"/>
                    <a:pt x="5165" y="267337"/>
                  </a:cubicBezTo>
                  <a:cubicBezTo>
                    <a:pt x="1858" y="264029"/>
                    <a:pt x="0" y="259544"/>
                    <a:pt x="0" y="254866"/>
                  </a:cubicBezTo>
                  <a:lnTo>
                    <a:pt x="0" y="17636"/>
                  </a:lnTo>
                  <a:cubicBezTo>
                    <a:pt x="0" y="12959"/>
                    <a:pt x="1858" y="8473"/>
                    <a:pt x="5165" y="5165"/>
                  </a:cubicBezTo>
                  <a:cubicBezTo>
                    <a:pt x="8473" y="1858"/>
                    <a:pt x="12959" y="0"/>
                    <a:pt x="17636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457825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Aprobare comunicare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flipH="true">
            <a:off x="6328666" y="7210851"/>
            <a:ext cx="726949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4" id="44"/>
          <p:cNvGrpSpPr/>
          <p:nvPr/>
        </p:nvGrpSpPr>
        <p:grpSpPr>
          <a:xfrm rot="0">
            <a:off x="1289797" y="8336623"/>
            <a:ext cx="5117009" cy="902627"/>
            <a:chOff x="0" y="0"/>
            <a:chExt cx="1544820" cy="27250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44820" cy="272502"/>
            </a:xfrm>
            <a:custGeom>
              <a:avLst/>
              <a:gdLst/>
              <a:ahLst/>
              <a:cxnLst/>
              <a:rect r="r" b="b" t="t" l="l"/>
              <a:pathLst>
                <a:path h="272502" w="1544820">
                  <a:moveTo>
                    <a:pt x="16643" y="0"/>
                  </a:moveTo>
                  <a:lnTo>
                    <a:pt x="1528177" y="0"/>
                  </a:lnTo>
                  <a:cubicBezTo>
                    <a:pt x="1537369" y="0"/>
                    <a:pt x="1544820" y="7451"/>
                    <a:pt x="1544820" y="16643"/>
                  </a:cubicBezTo>
                  <a:lnTo>
                    <a:pt x="1544820" y="255860"/>
                  </a:lnTo>
                  <a:cubicBezTo>
                    <a:pt x="1544820" y="265051"/>
                    <a:pt x="1537369" y="272502"/>
                    <a:pt x="1528177" y="272502"/>
                  </a:cubicBezTo>
                  <a:lnTo>
                    <a:pt x="16643" y="272502"/>
                  </a:lnTo>
                  <a:cubicBezTo>
                    <a:pt x="12229" y="272502"/>
                    <a:pt x="7996" y="270749"/>
                    <a:pt x="4875" y="267628"/>
                  </a:cubicBezTo>
                  <a:cubicBezTo>
                    <a:pt x="1753" y="264507"/>
                    <a:pt x="0" y="260273"/>
                    <a:pt x="0" y="255860"/>
                  </a:cubicBezTo>
                  <a:lnTo>
                    <a:pt x="0" y="16643"/>
                  </a:lnTo>
                  <a:cubicBezTo>
                    <a:pt x="0" y="12229"/>
                    <a:pt x="1753" y="7996"/>
                    <a:pt x="4875" y="4875"/>
                  </a:cubicBezTo>
                  <a:cubicBezTo>
                    <a:pt x="7996" y="1753"/>
                    <a:pt x="12229" y="0"/>
                    <a:pt x="16643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544820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Transmitere comunicare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>
            <a:off x="3346048" y="7680941"/>
            <a:ext cx="0" cy="561116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8" id="48"/>
          <p:cNvGrpSpPr/>
          <p:nvPr/>
        </p:nvGrpSpPr>
        <p:grpSpPr>
          <a:xfrm rot="0">
            <a:off x="7248037" y="8336623"/>
            <a:ext cx="4533251" cy="902627"/>
            <a:chOff x="0" y="0"/>
            <a:chExt cx="1368584" cy="2725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68584" cy="272502"/>
            </a:xfrm>
            <a:custGeom>
              <a:avLst/>
              <a:gdLst/>
              <a:ahLst/>
              <a:cxnLst/>
              <a:rect r="r" b="b" t="t" l="l"/>
              <a:pathLst>
                <a:path h="272502" w="1368584">
                  <a:moveTo>
                    <a:pt x="18786" y="0"/>
                  </a:moveTo>
                  <a:lnTo>
                    <a:pt x="1349798" y="0"/>
                  </a:lnTo>
                  <a:cubicBezTo>
                    <a:pt x="1360173" y="0"/>
                    <a:pt x="1368584" y="8411"/>
                    <a:pt x="1368584" y="18786"/>
                  </a:cubicBezTo>
                  <a:lnTo>
                    <a:pt x="1368584" y="253716"/>
                  </a:lnTo>
                  <a:cubicBezTo>
                    <a:pt x="1368584" y="264092"/>
                    <a:pt x="1360173" y="272502"/>
                    <a:pt x="1349798" y="272502"/>
                  </a:cubicBezTo>
                  <a:lnTo>
                    <a:pt x="18786" y="272502"/>
                  </a:lnTo>
                  <a:cubicBezTo>
                    <a:pt x="8411" y="272502"/>
                    <a:pt x="0" y="264092"/>
                    <a:pt x="0" y="253716"/>
                  </a:cubicBezTo>
                  <a:lnTo>
                    <a:pt x="0" y="18786"/>
                  </a:lnTo>
                  <a:cubicBezTo>
                    <a:pt x="0" y="8411"/>
                    <a:pt x="8411" y="0"/>
                    <a:pt x="18786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1368584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Monitorizare incident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>
            <a:off x="6454431" y="8787936"/>
            <a:ext cx="745981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12574893" y="8336623"/>
            <a:ext cx="4987065" cy="902627"/>
            <a:chOff x="0" y="0"/>
            <a:chExt cx="1505590" cy="27250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05590" cy="272502"/>
            </a:xfrm>
            <a:custGeom>
              <a:avLst/>
              <a:gdLst/>
              <a:ahLst/>
              <a:cxnLst/>
              <a:rect r="r" b="b" t="t" l="l"/>
              <a:pathLst>
                <a:path h="272502" w="1505590">
                  <a:moveTo>
                    <a:pt x="17076" y="0"/>
                  </a:moveTo>
                  <a:lnTo>
                    <a:pt x="1488514" y="0"/>
                  </a:lnTo>
                  <a:cubicBezTo>
                    <a:pt x="1497945" y="0"/>
                    <a:pt x="1505590" y="7645"/>
                    <a:pt x="1505590" y="17076"/>
                  </a:cubicBezTo>
                  <a:lnTo>
                    <a:pt x="1505590" y="255426"/>
                  </a:lnTo>
                  <a:cubicBezTo>
                    <a:pt x="1505590" y="264857"/>
                    <a:pt x="1497945" y="272502"/>
                    <a:pt x="1488514" y="272502"/>
                  </a:cubicBezTo>
                  <a:lnTo>
                    <a:pt x="17076" y="272502"/>
                  </a:lnTo>
                  <a:cubicBezTo>
                    <a:pt x="12547" y="272502"/>
                    <a:pt x="8204" y="270703"/>
                    <a:pt x="5002" y="267501"/>
                  </a:cubicBezTo>
                  <a:cubicBezTo>
                    <a:pt x="1799" y="264298"/>
                    <a:pt x="0" y="259955"/>
                    <a:pt x="0" y="255426"/>
                  </a:cubicBezTo>
                  <a:lnTo>
                    <a:pt x="0" y="17076"/>
                  </a:lnTo>
                  <a:cubicBezTo>
                    <a:pt x="0" y="7645"/>
                    <a:pt x="7645" y="0"/>
                    <a:pt x="17076" y="0"/>
                  </a:cubicBezTo>
                  <a:close/>
                </a:path>
              </a:pathLst>
            </a:custGeom>
            <a:solidFill>
              <a:srgbClr val="DCEEFF"/>
            </a:solidFill>
            <a:ln w="47625" cap="sq">
              <a:solidFill>
                <a:srgbClr val="3175DB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1505590" cy="33917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Rezolvare + comunicare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>
            <a:off x="11781287" y="8768886"/>
            <a:ext cx="745981" cy="0"/>
          </a:xfrm>
          <a:prstGeom prst="line">
            <a:avLst/>
          </a:prstGeom>
          <a:ln cap="flat" w="38100">
            <a:solidFill>
              <a:srgbClr val="03469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9194822"/>
            <a:ext cx="1346156" cy="673078"/>
          </a:xfrm>
          <a:custGeom>
            <a:avLst/>
            <a:gdLst/>
            <a:ahLst/>
            <a:cxnLst/>
            <a:rect r="r" b="b" t="t" l="l"/>
            <a:pathLst>
              <a:path h="673078" w="1346156">
                <a:moveTo>
                  <a:pt x="0" y="673078"/>
                </a:moveTo>
                <a:lnTo>
                  <a:pt x="1346156" y="673078"/>
                </a:lnTo>
                <a:lnTo>
                  <a:pt x="1346156" y="0"/>
                </a:lnTo>
                <a:lnTo>
                  <a:pt x="0" y="0"/>
                </a:lnTo>
                <a:lnTo>
                  <a:pt x="0" y="6730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81744" y="49205"/>
            <a:ext cx="14534581" cy="10237795"/>
          </a:xfrm>
          <a:custGeom>
            <a:avLst/>
            <a:gdLst/>
            <a:ahLst/>
            <a:cxnLst/>
            <a:rect r="r" b="b" t="t" l="l"/>
            <a:pathLst>
              <a:path h="10237795" w="14534581">
                <a:moveTo>
                  <a:pt x="0" y="0"/>
                </a:moveTo>
                <a:lnTo>
                  <a:pt x="14534581" y="0"/>
                </a:lnTo>
                <a:lnTo>
                  <a:pt x="14534581" y="10237795"/>
                </a:lnTo>
                <a:lnTo>
                  <a:pt x="0" y="10237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78397" y="425450"/>
            <a:ext cx="11931701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HANDOFF-URI ÎNTRE AGENȚI </a:t>
            </a:r>
          </a:p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(STATE MACHINE)</a:t>
            </a:r>
          </a:p>
          <a:p>
            <a:pPr algn="ctr">
              <a:lnSpc>
                <a:spcPts val="445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9194822"/>
            <a:ext cx="1346156" cy="673078"/>
          </a:xfrm>
          <a:custGeom>
            <a:avLst/>
            <a:gdLst/>
            <a:ahLst/>
            <a:cxnLst/>
            <a:rect r="r" b="b" t="t" l="l"/>
            <a:pathLst>
              <a:path h="673078" w="1346156">
                <a:moveTo>
                  <a:pt x="0" y="673078"/>
                </a:moveTo>
                <a:lnTo>
                  <a:pt x="1346156" y="673078"/>
                </a:lnTo>
                <a:lnTo>
                  <a:pt x="1346156" y="0"/>
                </a:lnTo>
                <a:lnTo>
                  <a:pt x="0" y="0"/>
                </a:lnTo>
                <a:lnTo>
                  <a:pt x="0" y="6730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29813" y="0"/>
            <a:ext cx="12028373" cy="10287000"/>
          </a:xfrm>
          <a:custGeom>
            <a:avLst/>
            <a:gdLst/>
            <a:ahLst/>
            <a:cxnLst/>
            <a:rect r="r" b="b" t="t" l="l"/>
            <a:pathLst>
              <a:path h="10287000" w="12028373">
                <a:moveTo>
                  <a:pt x="0" y="0"/>
                </a:moveTo>
                <a:lnTo>
                  <a:pt x="12028374" y="0"/>
                </a:lnTo>
                <a:lnTo>
                  <a:pt x="120283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7559" y="322748"/>
            <a:ext cx="5688013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HIGH-LEVEL </a:t>
            </a:r>
          </a:p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9194822"/>
            <a:ext cx="1346156" cy="673078"/>
          </a:xfrm>
          <a:custGeom>
            <a:avLst/>
            <a:gdLst/>
            <a:ahLst/>
            <a:cxnLst/>
            <a:rect r="r" b="b" t="t" l="l"/>
            <a:pathLst>
              <a:path h="673078" w="1346156">
                <a:moveTo>
                  <a:pt x="0" y="673078"/>
                </a:moveTo>
                <a:lnTo>
                  <a:pt x="1346156" y="673078"/>
                </a:lnTo>
                <a:lnTo>
                  <a:pt x="1346156" y="0"/>
                </a:lnTo>
                <a:lnTo>
                  <a:pt x="0" y="0"/>
                </a:lnTo>
                <a:lnTo>
                  <a:pt x="0" y="6730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12662" y="0"/>
            <a:ext cx="4262676" cy="10287000"/>
          </a:xfrm>
          <a:custGeom>
            <a:avLst/>
            <a:gdLst/>
            <a:ahLst/>
            <a:cxnLst/>
            <a:rect r="r" b="b" t="t" l="l"/>
            <a:pathLst>
              <a:path h="10287000" w="4262676">
                <a:moveTo>
                  <a:pt x="0" y="0"/>
                </a:moveTo>
                <a:lnTo>
                  <a:pt x="4262676" y="0"/>
                </a:lnTo>
                <a:lnTo>
                  <a:pt x="42626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3647" y="413236"/>
            <a:ext cx="6282876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EXEMPLU</a:t>
            </a:r>
          </a:p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FLUX END-TO-END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27384" y="4309854"/>
            <a:ext cx="11633233" cy="178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b="true" sz="12479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MULȚUMESC!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DAHSugX8VY4</dc:identifier>
  <dcterms:modified xsi:type="dcterms:W3CDTF">2011-08-01T06:04:30Z</dcterms:modified>
  <cp:revision>1</cp:revision>
  <dc:title>Major Incident Agent</dc:title>
</cp:coreProperties>
</file>